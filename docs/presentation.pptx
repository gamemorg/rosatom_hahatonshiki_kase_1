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1b468741-7b42-63aa-d3b8-b6a0d898b782}">
          <p14:sldIdLst>
            <p14:sldId id="256"/>
            <p14:sldId id="257"/>
            <p14:sldId id="258"/>
          </p14:sldIdLst>
        </p14:section>
        <p14:section name="Данные и бейзлайн" id="{5d9bdf56-0c58-593f-4853-0a338879051a}">
          <p14:sldIdLst>
            <p14:sldId id="259"/>
            <p14:sldId id="260"/>
            <p14:sldId id="261"/>
          </p14:sldIdLst>
        </p14:section>
        <p14:section name="Модели" id="{8151c956-e069-e7d3-15de-8235eeba3d6a}">
          <p14:sldIdLst>
            <p14:sldId id="262"/>
            <p14:sldId id="263"/>
          </p14:sldIdLst>
        </p14:section>
        <p14:section name="PINN" id="{ed8fe3f5-bbfb-13b7-dcc6-87b386f523d2}">
          <p14:sldIdLst>
            <p14:sldId id="264"/>
            <p14:sldId id="265"/>
            <p14:sldId id="266"/>
            <p14:sldId id="267"/>
            <p14:sldId id="268"/>
          </p14:sldIdLst>
        </p14:section>
        <p14:section name="Инференс и сжатие" id="{6ae2585c-2799-ff8e-8ef8-051a7855ca04}">
          <p14:sldIdLst>
            <p14:sldId id="269"/>
            <p14:sldId id="270"/>
          </p14:sldIdLst>
        </p14:section>
        <p14:section name="Итоги" id="{611f0652-0e5c-3b50-a3ef-936a8558fcc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6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16B"/>
                </a:solidFill>
                <a:latin typeface="+mn-lt"/>
              </a:rPr>
              <a:t>Подбор архитектуры: ошибка на val за 100 эпох,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2449B8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5×128</c:v>
                  </c:pt>
                  <c:pt idx="1">
                    <c:v>4×256</c:v>
                  </c:pt>
                  <c:pt idx="2">
                    <c:v>tanh</c:v>
                  </c:pt>
                  <c:pt idx="3">
                    <c:v>Фурье 16</c:v>
                  </c:pt>
                  <c:pt idx="4">
                    <c:v>Фурье 32</c:v>
                  </c:pt>
                  <c:pt idx="5">
                    <c:v>Фурье 64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2.2</c:v>
                </c:pt>
                <c:pt idx="2">
                  <c:v>1.4</c:v>
                </c:pt>
                <c:pt idx="3">
                  <c:v>0.77</c:v>
                </c:pt>
                <c:pt idx="4">
                  <c:v>0.53</c:v>
                </c:pt>
                <c:pt idx="5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</c:v>
                </c:pt>
              </c:strCache>
            </c:strRef>
          </c:tx>
          <c:spPr>
            <a:solidFill>
              <a:srgbClr val="8DB8F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5×128</c:v>
                  </c:pt>
                  <c:pt idx="1">
                    <c:v>4×256</c:v>
                  </c:pt>
                  <c:pt idx="2">
                    <c:v>tanh</c:v>
                  </c:pt>
                  <c:pt idx="3">
                    <c:v>Фурье 16</c:v>
                  </c:pt>
                  <c:pt idx="4">
                    <c:v>Фурье 32</c:v>
                  </c:pt>
                  <c:pt idx="5">
                    <c:v>Фурье 64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2.6</c:v>
                </c:pt>
                <c:pt idx="2">
                  <c:v>1.5</c:v>
                </c:pt>
                <c:pt idx="3">
                  <c:v>1.1</c:v>
                </c:pt>
                <c:pt idx="4">
                  <c:v>0.84</c:v>
                </c:pt>
                <c:pt idx="5">
                  <c:v>0.85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1621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5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5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6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16B"/>
                </a:solidFill>
                <a:latin typeface="+mn-lt"/>
              </a:rPr>
              <a:t>Время 10⁵ запросов P, E, мс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мс</c:v>
                </c:pt>
              </c:strCache>
            </c:strRef>
          </c:tx>
          <c:spPr>
            <a:solidFill>
              <a:srgbClr val="2449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PINN eager</c:v>
                  </c:pt>
                  <c:pt idx="1">
                    <c:v>PINN TorchScript</c:v>
                  </c:pt>
                  <c:pt idx="2">
                    <c:v>PINN ONNX</c:v>
                  </c:pt>
                  <c:pt idx="3">
                    <c:v>Компактная eager</c:v>
                  </c:pt>
                  <c:pt idx="4">
                    <c:v>Компактная ONNX</c:v>
                  </c:pt>
                  <c:pt idx="5">
                    <c:v>Таблица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436</c:v>
                </c:pt>
                <c:pt idx="1">
                  <c:v>165</c:v>
                </c:pt>
                <c:pt idx="2">
                  <c:v>125</c:v>
                </c:pt>
                <c:pt idx="3">
                  <c:v>102</c:v>
                </c:pt>
                <c:pt idx="4">
                  <c:v>45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1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5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9D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5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кейс — суррогат уравнения состояния алюминия. Одна нейросеть 0.3 МБ заменяет 20 таблиц, даёт P, E, все производные и скорость звука и выполняет условия термодинамической устойчивости во всей области.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из 20 областей — прямоугольная сетка. Выходы меняются на 12 порядков, поэтому сеть учит ln P и asinh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Условия устойчивости данные выполняют, а соотношение Максвелла — нет, причём на холодной кривой ровно в два раза. Это определило дизайн PINN.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Фурье-признаки дали главный выигрыш точности: резкие переходы вроде ионизации MLP без них описывает плохо.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Vanilla описывает узлы, но между ними у неё C_v&lt;0 и ∂P/∂ρ≤0 полосами по всей области. У PINN остаются единичные точки.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Прямой штраф за c_s²&lt;0 мы убрали: при C_v → 0 он взрывается и ломает обучение. Положительность c_s² следует из двух первых условий.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457200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9372600" y="374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ИТ КОР 5.0  |  ТРЕК ML  |  КЕЙС 02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image" Target="../media/image-4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3.png"/><Relationship Id="rId5" Type="http://schemas.openxmlformats.org/officeDocument/2006/relationships/image" Target="../media/image-15-3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18872" cy="1188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ИТ КОР 5.0  |  ТРЕК MACHINE LEARNING  |  КЕЙС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НЕЙРОСЕТЕВАЯ АППРОКСИМАЦИЯ ШИРОКОДИАПАЗОННОГО УРАВНЕНИЯ СОСТОЯНИЯ АЛЮМИНИЯ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6FF"/>
                </a:solidFill>
              </a:rPr>
              <a:t>Physics-Informed Neural Network с учётом термодинамических ограничений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4206240" cy="502920"/>
          </a:xfrm>
          <a:prstGeom prst="roundRect">
            <a:avLst>
              <a:gd name="adj" fmla="val 49091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Капитан команды: Бронникова Е. Ю.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КОМАНДА ПРОЕКТА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СОСТАВ И РАСПРЕДЕЛЕНИЕ РОЛЕЙ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8638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6" name="Image 0" descr="/home/claude/deck2/ic_ato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774302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Бронникова Екатерина Юрьевна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Капитан. Архитектура PINN, физический лосс; документация, презентация, сборка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78638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578608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1" name="Image 1" descr="/home/claude/deck2/ic_d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270699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4871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Ярутов Алексей Николаевич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24871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Загрузка данных, EDA, baseline (билинейная интерполяция)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19856"/>
            <a:ext cx="78638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11296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6" name="Image 2" descr="/home/claude/deck2/ic_b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363967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4198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Малицын Николай Романович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343400" y="341985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Обучение Vanilla-модели, подбор гиперпараметров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52544"/>
            <a:ext cx="78638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443984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1" name="Image 3" descr="/home/claude/deck2/ic_tem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2" y="4572366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43525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Боева Анастасия Владимировна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343400" y="43525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Физический блок: автоград производных, скорость звука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285232"/>
            <a:ext cx="78638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376672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6" name="Image 4" descr="/home/claude/deck2/ic_box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2" y="5505054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52852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Семенова Анжелика Романовна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343400" y="52852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Инференс, упаковка (ONNX, TorchScript), класс-обёртка</a:t>
            </a:r>
            <a:endParaRPr lang="en-US" sz="1150" dirty="0"/>
          </a:p>
        </p:txBody>
      </p:sp>
      <p:pic>
        <p:nvPicPr>
          <p:cNvPr id="29" name="Image 5" descr="синяя лента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78240" y="1417320"/>
            <a:ext cx="3410712" cy="4846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098280" y="1737360"/>
            <a:ext cx="0" cy="42062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025128" y="1984248"/>
            <a:ext cx="146304" cy="1463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37260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</a:t>
            </a:r>
            <a:endParaRPr lang="en-US" sz="4000" dirty="0"/>
          </a:p>
        </p:txBody>
      </p:sp>
      <p:sp>
        <p:nvSpPr>
          <p:cNvPr id="33" name="Text 25"/>
          <p:cNvSpPr txBox="1"/>
          <p:nvPr/>
        </p:nvSpPr>
        <p:spPr>
          <a:xfrm>
            <a:off x="9372600" y="2377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6EEFA"/>
                </a:solidFill>
              </a:rPr>
              <a:t>участников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данные, модели, физика, упаковка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9025128" y="3447288"/>
            <a:ext cx="146304" cy="1463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9372600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</a:t>
            </a:r>
            <a:endParaRPr lang="en-US" sz="4000" dirty="0"/>
          </a:p>
        </p:txBody>
      </p:sp>
      <p:sp>
        <p:nvSpPr>
          <p:cNvPr id="36" name="Text 28"/>
          <p:cNvSpPr txBox="1"/>
          <p:nvPr/>
        </p:nvSpPr>
        <p:spPr>
          <a:xfrm>
            <a:off x="937260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6EEFA"/>
                </a:solidFill>
              </a:rPr>
              <a:t>модулей кейса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от EDA до презентации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9025128" y="4910328"/>
            <a:ext cx="146304" cy="1463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9372600" y="4617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39" name="Text 31"/>
          <p:cNvSpPr txBox="1"/>
          <p:nvPr/>
        </p:nvSpPr>
        <p:spPr>
          <a:xfrm>
            <a:off x="9372600" y="5303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6EEFA"/>
                </a:solidFill>
              </a:rPr>
              <a:t>модель на всю область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вместо 20 таблиц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РЕШЕНИЕ В ЦИФРАХ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PINN КАК БЫСТРЫЙ И ФИЗИЧЕСКИ СОГЛАСОВАННЫЙ СУРРОГАТ УРС</a:t>
            </a:r>
            <a:endParaRPr lang="en-US" sz="1200" dirty="0"/>
          </a:p>
        </p:txBody>
      </p:sp>
      <p:pic>
        <p:nvPicPr>
          <p:cNvPr id="4" name="Image 0" descr="синяя лент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508760"/>
            <a:ext cx="12191695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×10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04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PINN-T согласованнее таблиц по Максвеллу (невязка 5 % против 49 %)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0.018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304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нарушений устойчивости у PINN-A (Vanilla — 28.4 %)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0.36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304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ошибка P у PINN-A на test (у PINN-T — 11.9 %)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0.29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МБ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2304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state_dict / ONNX P,E (с производными — 0.59 МБ)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429000"/>
            <a:ext cx="5440680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611880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ЗАДАЧА</a:t>
            </a:r>
            <a:endParaRPr lang="en-US" sz="1100" dirty="0"/>
          </a:p>
        </p:txBody>
      </p:sp>
      <p:pic>
        <p:nvPicPr>
          <p:cNvPr id="16" name="Image 1" descr="/home/claude/deck2/ic_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5137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70432" y="4078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Вход: плотность ρ и температура T</a:t>
            </a:r>
            <a:endParaRPr lang="en-US" sz="1300" dirty="0"/>
          </a:p>
        </p:txBody>
      </p:sp>
      <p:pic>
        <p:nvPicPr>
          <p:cNvPr id="18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5429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70432" y="45811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Выход: P(ρ,T), E(ρ,T), ∂P/∂ρ, ∂P/∂T, ∂E/∂ρ, ∂E/∂T, c_s</a:t>
            </a:r>
            <a:endParaRPr lang="en-US" sz="1300" dirty="0"/>
          </a:p>
        </p:txBody>
      </p:sp>
      <p:pic>
        <p:nvPicPr>
          <p:cNvPr id="20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5721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70432" y="50840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ρ ∈ [10⁻³, 10⁴] г/см³, T ∈ [0.1, 10⁷] K — 1.13 млн табличных точек</a:t>
            </a:r>
            <a:endParaRPr lang="en-US" sz="1300" dirty="0"/>
          </a:p>
        </p:txBody>
      </p:sp>
      <p:pic>
        <p:nvPicPr>
          <p:cNvPr id="22" name="Image 4" descr="/home/claude/deck2/ic_check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6013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70432" y="55869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Выполнение термодинамических ограничений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3429000"/>
            <a:ext cx="5349240" cy="2788920"/>
          </a:xfrm>
          <a:prstGeom prst="roundRect">
            <a:avLst>
              <a:gd name="adj" fmla="val 327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92240" y="3611880"/>
            <a:ext cx="265176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62940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КЛЮЧЕВАЯ НАХОДКА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8" name="Image 5" descr="/home/claude/deck2/ic_search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406" y="4345686"/>
            <a:ext cx="315468" cy="3154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60920" y="406908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Сами таблицы не удовлетворяют соотношению Максвелла: медиана невязки 29 %, на холодной кривой — ровно в 2 раза. Поэтому устойчивость навязана полностью, а согласованность — с измеренным компромиссом точности.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ДАННЫЕ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1 · 20 ПРЯМОУГОЛЬНЫХ СЕТОК, 4 ТИПА РАВНОМЕРНОСТИ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217920" cy="3718346"/>
          </a:xfrm>
          <a:prstGeom prst="roundRect">
            <a:avLst>
              <a:gd name="adj" fmla="val 19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/home/claude/eos_pinn/artifacts/figures/m1_reg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035040" cy="3535466"/>
          </a:xfrm>
          <a:prstGeom prst="rect">
            <a:avLst/>
          </a:prstGeom>
        </p:spPr>
      </p:pic>
      <p:pic>
        <p:nvPicPr>
          <p:cNvPr id="6" name="Image 1" descr="синяя лента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5257800"/>
            <a:ext cx="12191695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303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1.13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млн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9618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точек (ρ, T, P, E)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5303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20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59618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областей-сеток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5303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типа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59618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log-log, log-lin, lin-log, lin-lin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5303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12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порядков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8869680" y="59618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диапазон давления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132320" y="1417320"/>
            <a:ext cx="4480560" cy="361188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60920" y="1600200"/>
            <a:ext cx="237744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9808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ЧТО В ДАННЫХ</a:t>
            </a:r>
            <a:endParaRPr lang="en-US" sz="1100" dirty="0"/>
          </a:p>
        </p:txBody>
      </p:sp>
      <p:pic>
        <p:nvPicPr>
          <p:cNvPr id="18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1854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54112" y="21122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Каждая область — полная прямоугольная сетка</a:t>
            </a:r>
            <a:endParaRPr lang="en-US" sz="1250" dirty="0"/>
          </a:p>
        </p:txBody>
      </p:sp>
      <p:pic>
        <p:nvPicPr>
          <p:cNvPr id="20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75234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54112" y="2679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 &gt; 0, от 5·10⁻⁴ до 1.6·10⁹ ГПа → учим ln P</a:t>
            </a:r>
            <a:endParaRPr lang="en-US" sz="1250" dirty="0"/>
          </a:p>
        </p:txBody>
      </p:sp>
      <p:pic>
        <p:nvPicPr>
          <p:cNvPr id="22" name="Image 4" descr="/home/claude/deck2/ic_check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31927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54112" y="32461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 меняет знак, от −47 до 1.8·10⁵ кДж/г → учим asinh E</a:t>
            </a:r>
            <a:endParaRPr lang="en-US" sz="1250" dirty="0"/>
          </a:p>
        </p:txBody>
      </p:sp>
      <p:pic>
        <p:nvPicPr>
          <p:cNvPr id="24" name="Image 5" descr="/home/claude/deck2/ic_check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88620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54112" y="38130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Входы сети — ln ρ, ln T в [−1, 1]²</a:t>
            </a:r>
            <a:endParaRPr lang="en-US" sz="1250" dirty="0"/>
          </a:p>
        </p:txBody>
      </p:sp>
      <p:pic>
        <p:nvPicPr>
          <p:cNvPr id="26" name="Image 6" descr="/home/claude/deck2/ic_check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453128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754112" y="43799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Пропусков нет, стыки областей непрерывны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ТЕРМОДИНАМИКА В ДАННЫХ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1 · EDA: ПРОВЕРКА ОГРАНИЧЕНИЙ НА САМИХ ТАБЛИЦАХ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2904309"/>
          </a:xfrm>
          <a:prstGeom prst="roundRect">
            <a:avLst>
              <a:gd name="adj" fmla="val 25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/home/claude/eos_pinn/artifacts/figures/m1_cold_curve_and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400800" cy="2721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26280"/>
            <a:ext cx="6583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846320"/>
            <a:ext cx="685800" cy="6858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8" name="Image 1" descr="/home/claude/deck2/ic_war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6" y="5031486"/>
            <a:ext cx="315468" cy="3154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4617720"/>
            <a:ext cx="5349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Минимум холодной энергии — при ρ ≈ 2.6 г/см³, но P там ≈ 140 ГПа, а не 0: таблицы P и E не происходят из одной свободной энергии.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52360" y="1417320"/>
            <a:ext cx="4160520" cy="4800600"/>
          </a:xfrm>
          <a:prstGeom prst="roundRect">
            <a:avLst>
              <a:gd name="adj" fmla="val 219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80960" y="1600200"/>
            <a:ext cx="292608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ВЫПОЛНЕНИЕ В ДАННЫХ</a:t>
            </a:r>
            <a:endParaRPr lang="en-US" sz="1100" dirty="0"/>
          </a:p>
        </p:txBody>
      </p:sp>
      <p:pic>
        <p:nvPicPr>
          <p:cNvPr id="13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2219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(∂P/∂ρ)_T &gt; 0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везде</a:t>
            </a:r>
            <a:endParaRPr lang="en-US" sz="1200" dirty="0"/>
          </a:p>
        </p:txBody>
      </p:sp>
      <p:pic>
        <p:nvPicPr>
          <p:cNvPr id="16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20954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C_v ≥ 0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8138160" y="35478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кроме скачка при T ≈ 143 K</a:t>
            </a:r>
            <a:endParaRPr lang="en-US" sz="1200" dirty="0"/>
          </a:p>
        </p:txBody>
      </p:sp>
      <p:pic>
        <p:nvPicPr>
          <p:cNvPr id="19" name="Image 4" descr="/home/claude/deck2/ic_warn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197096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38160" y="4169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0 &lt; c_s &lt; c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138160" y="4535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c_s → ∞ при T → 0: C_v = 0, ∂P/∂T ≠ 0</a:t>
            </a:r>
            <a:endParaRPr lang="en-US" sz="1200" dirty="0"/>
          </a:p>
        </p:txBody>
      </p:sp>
      <p:pic>
        <p:nvPicPr>
          <p:cNvPr id="22" name="Image 5" descr="/home/claude/deck2/ic_warn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518464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38160" y="5157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Максвелл: ρ²∂E/∂ρ = P − T∂P/∂T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8138160" y="5522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нарушено: медиана 29 %, ×2 на холодной кривой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БЕЙЗЛАЙН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1 · БИЛИНЕЙНАЯ ИНТЕРПОЛЯЦИЯ ПО 20 СЕТКАМ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219456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КАК ПОСТРОЕН</a:t>
            </a:r>
            <a:endParaRPr lang="en-US" sz="1100" dirty="0"/>
          </a:p>
        </p:txBody>
      </p:sp>
      <p:pic>
        <p:nvPicPr>
          <p:cNvPr id="7" name="Image 0" descr="/home/claude/deck2/ic_chec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854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11226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Свой интерполятор на каждую сетку в её нативных координатах (ln — для log-осей)</a:t>
            </a:r>
            <a:endParaRPr lang="en-US" sz="1300" dirty="0"/>
          </a:p>
        </p:txBody>
      </p:sp>
      <p:pic>
        <p:nvPicPr>
          <p:cNvPr id="9" name="Image 1" descr="/home/claude/deck2/ic_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62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288950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Строится только по train-узлам (каждый 2-й узел)</a:t>
            </a:r>
            <a:endParaRPr lang="en-US" sz="1300" dirty="0"/>
          </a:p>
        </p:txBody>
      </p:sp>
      <p:pic>
        <p:nvPicPr>
          <p:cNvPr id="11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398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70432" y="36667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— центры ячеек: точки, которых не видела ни одна модель</a:t>
            </a:r>
            <a:endParaRPr lang="en-US" sz="1300" dirty="0"/>
          </a:p>
        </p:txBody>
      </p:sp>
      <p:pic>
        <p:nvPicPr>
          <p:cNvPr id="13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1713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70432" y="44439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Максимальная ошибка ≈ 20 % — на скачке при 143 K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5349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1"/>
                </a:solidFill>
              </a:rPr>
              <a:t>Точность в узлах — эталон; преимущество сети — гладкость, физика и размер.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0876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Метрика (test)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по 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по ln 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P, средняя ошибка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0.055 %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0.012 %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P, 95 % точек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0.20 %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0.013 %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E, средняя ошибка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0.027 %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0.027 %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Размер таблиц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4.4 МБ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4.4 МБ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10⁵ запросов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48 мс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45 мс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+ производные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241 мс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228 мс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Нарушения устойчивости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1.9 %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1.9 %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АРХИТЕКТУРА МОДЕЛИ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2 · ОДНА СЕТЬ НА ВСЮ ОБЛАСТЬ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926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6" name="Image 0" descr="/home/claude/deck2/ic_d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1734617"/>
            <a:ext cx="462686" cy="462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(ρ, T)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ln ρ, ln T → [−1, 1]²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0" name="Image 1" descr="/home/claude/deck2/ic_lay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97" y="1734617"/>
            <a:ext cx="462686" cy="462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Фурье-признаки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32 частоты sin/cos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4" name="Image 2" descr="/home/claude/deck2/ic_b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697" y="1734617"/>
            <a:ext cx="462686" cy="46268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29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MLP 5×128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SiLU, 75 тыс. параметров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8" name="Image 3" descr="/home/claude/deck2/ic_char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697" y="1734617"/>
            <a:ext cx="462686" cy="4626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(ln P, asinh E)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 &gt; 0 по построению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2" name="Image 4" descr="/home/claude/deck2/ic_atom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697" y="1734617"/>
            <a:ext cx="462686" cy="46268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Производные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autograd · явный якобиан</a:t>
            </a:r>
            <a:endParaRPr lang="en-US" sz="11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611880"/>
          <a:ext cx="6766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Shape 18"/>
          <p:cNvSpPr/>
          <p:nvPr/>
        </p:nvSpPr>
        <p:spPr>
          <a:xfrm>
            <a:off x="7635240" y="361188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863840" y="3794760"/>
            <a:ext cx="329184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001000" y="3794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ПРОИЗВОДНЫЕ: AUTOGRAD (П. 2.3)</a:t>
            </a:r>
            <a:endParaRPr lang="en-US" sz="1100" dirty="0"/>
          </a:p>
        </p:txBody>
      </p:sp>
      <p:pic>
        <p:nvPicPr>
          <p:cNvPr id="29" name="Image 5" descr="/home/claude/deck2/ic_check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4379976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257032" y="43068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torch.autograd: ∂P/∂ρ, ∂P/∂T, ∂E/∂ρ, ∂E/∂T во всех 278 537 test-точках</a:t>
            </a:r>
            <a:endParaRPr lang="en-US" sz="1250" dirty="0"/>
          </a:p>
        </p:txBody>
      </p:sp>
      <p:pic>
        <p:nvPicPr>
          <p:cNvPr id="31" name="Image 6" descr="/home/claude/deck2/ic_check_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5020056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257032" y="49469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Для ONNX — эквивалентный явный якобиан</a:t>
            </a:r>
            <a:endParaRPr lang="en-US" sz="1250" dirty="0"/>
          </a:p>
        </p:txBody>
      </p:sp>
      <p:pic>
        <p:nvPicPr>
          <p:cNvPr id="33" name="Image 7" descr="/home/claude/deck2/ic_check_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60" y="5660136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8257032" y="55869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Расхождение с autograd ~10⁻⁷ (float32)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VANILLA: ТОЧНАЯ, НО НЕФИЗИЧНАЯ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2 · НАРУШЕНИЯ УСТОЙЧИВОСТИ НА 200 000 СЛУЧАЙНЫХ ТОЧЕК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10241280" cy="3215259"/>
          </a:xfrm>
          <a:prstGeom prst="roundRect">
            <a:avLst>
              <a:gd name="adj" fmla="val 227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/home/claude/eos_pinn/artifacts/figures/m3_violation_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10058400" cy="3032379"/>
          </a:xfrm>
          <a:prstGeom prst="rect">
            <a:avLst/>
          </a:prstGeom>
        </p:spPr>
      </p:pic>
      <p:pic>
        <p:nvPicPr>
          <p:cNvPr id="6" name="Image 1" descr="синяя лента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46320"/>
            <a:ext cx="12191695" cy="1554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28.4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точек нарушают устойчивость у Vanilla (C_v &lt; 0 — 25 %)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41960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0.22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441960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ошибка P у Vanilla на test (E — 0.25 %)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01624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0.018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801624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нарушений у PINN — примерно в 1500 раз меньше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ФИЗИЧЕСКАЯ ФУНКЦИЯ ПОТЕРЬ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3 · ЧЕТЫРЕ ТЕРМОДИНАМИЧЕСКИХ ОГРАНИЧЕНИЯ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1546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69164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6" name="Image 0" descr="/home/claude/deck2/ic_cog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951" y="191383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МЕХАНИЧЕСКАЯ УСТОЙЧИВОСТЬ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(∂P/∂ρ)_T &gt; 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relu(ε − ∂lnP/∂lnρ)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1508760"/>
            <a:ext cx="2606040" cy="31546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69164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2" name="Image 1" descr="/home/claude/deck2/ic_tem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59" y="191383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7288" y="2606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ТЕРМИЧЕСКАЯ УСТОЙЧИВОСТЬ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447288" y="3154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C_v ≥ 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relu(ε − ∂y_E/∂x_T)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63056" y="1508760"/>
            <a:ext cx="2606040" cy="31546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9168" y="169164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8" name="Image 2" descr="/home/claude/deck2/ic_bo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67" y="191383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54496" y="2606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ПРИЧИННОСТЬ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3154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 &lt; c_s &lt; c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54496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relu(ln c_s²/c²)², где C_v &gt; 0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70264" y="1508760"/>
            <a:ext cx="2606040" cy="31546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66376" y="169164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4" name="Image 3" descr="/home/claude/deck2/ic_atom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575" y="1913839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61704" y="2606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СОГЛАСОВАННОСТЬ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9061704" y="3154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ρ²∂E/∂ρ = P − T∂P/∂T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061704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Huber(r_M), вес λ_M</a:t>
            </a:r>
            <a:endParaRPr lang="en-US" sz="1150" dirty="0"/>
          </a:p>
        </p:txBody>
      </p:sp>
      <p:pic>
        <p:nvPicPr>
          <p:cNvPr id="28" name="Image 4" descr="синяя лента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4983480"/>
            <a:ext cx="12191695" cy="1417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" y="50749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 = L_data + λ · L_phys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E6EEFA"/>
                </a:solidFill>
              </a:rPr>
              <a:t>Безразмерные слагаемые · train-узлы + 2048 случайных точек на шаг · дообучение из Vanilla: сначала форма поверхности, затем физика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КОМПРОМИСС ПО МАКСВЕЛЛУ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3 · СЕРИЯ ДООБУЧЕНИЙ С РАЗНЫМ ВЕСОМ Λ_M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035040" cy="4180257"/>
          </a:xfrm>
          <a:prstGeom prst="roundRect">
            <a:avLst>
              <a:gd name="adj" fmla="val 17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/home/claude/eos_pinn/artifacts/figures/m3_pareto_max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852160" cy="3997377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63040"/>
          <a:ext cx="4663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  <a:gridCol w="8686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λ_Maxwell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P,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E,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медиана |r_M|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0.87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0.48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10⁻⁴ → PINN-A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0.43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0.88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0.47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10⁻³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0.63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0.44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10⁻²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3.2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3.0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10⁻¹ → PINN-T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12.4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12.7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0.06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4434840"/>
            <a:ext cx="46634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32320" y="4892040"/>
            <a:ext cx="777240" cy="7772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9" name="Image 1" descr="/home/claude/deck2/ic_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175" y="5101895"/>
            <a:ext cx="357530" cy="3575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92440" y="45262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Согласованность достижима только ценой отхода от таблиц — это свойство данных. Две финальные модели: PINN-A (точность) и PINN-T (термодинамика, рекомендуемая — приоритет организаторов).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СРАВНЕНИЕ МОДЕЛЕЙ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4 · BASELINE · VANILLA · PINN-A · PINN-T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960120"/>
                <a:gridCol w="960120"/>
                <a:gridCol w="960120"/>
                <a:gridCol w="1280160"/>
                <a:gridCol w="960120"/>
                <a:gridCol w="1005840"/>
                <a:gridCol w="8686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 ср.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 95 %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 ср.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 95 %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Наруш. устойч.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C_v&lt;0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∂P/∂ρ≤0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|r_M|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Размер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Билинейная (ln P)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0.012 %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0.013 %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0.027 %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0.085 %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1.9 %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0.19 %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0.49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4.4 МБ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Vanilla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0.22 %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0.59 %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0.25 %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0.82 %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28.4 %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25.0 %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3.6 %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0.48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0.29 МБ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PINN-A «точная»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0.36 %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1.08 %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0.59 %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1.98 %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0.018 %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0.016 %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0.002 %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0.47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0.29 МБ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PINN-T «термодин.»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11.9 %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34.6 %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11.9 %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37.8 %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0.082 %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0.081 %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0.0005 %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0.050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0.29 МБ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Компактная PINN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0.99 %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1.44 %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0.048 %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66"/>
                          </a:solidFill>
                        </a:rPr>
                        <a:t>0.06 МБ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синяя лент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92040"/>
            <a:ext cx="12191695" cy="1508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×1500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меньше нарушений устойчивости у PINN-A, чем у Vanilla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41960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×10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441960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PINN-T согласованнее таблиц по Максвеллу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016240" y="49834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~12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%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8016240" y="5641848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</a:rPr>
              <a:t>цена согласованности по точности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ГДЕ ОШИБАЮТСЯ МОДЕЛИ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4 · ТЕПЛОВЫЕ КАРТЫ ОТНОСИТЕЛЬНЫХ ОШИБОК P И 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8046720" cy="4394899"/>
          </a:xfrm>
          <a:prstGeom prst="roundRect">
            <a:avLst>
              <a:gd name="adj" fmla="val 16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/home/claude/eos_pinn/artifacts/figures/m2_error_heat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863840" cy="42120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417320"/>
            <a:ext cx="2697480" cy="480060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098280" y="1600200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ЧТЕНИЕ КАРТ</a:t>
            </a:r>
            <a:endParaRPr lang="en-US" sz="1100" dirty="0"/>
          </a:p>
        </p:txBody>
      </p:sp>
      <p:pic>
        <p:nvPicPr>
          <p:cNvPr id="9" name="Image 1" descr="/home/claude/deck2/ic_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2311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91472" y="2157984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Таблица: ошибки на стыках и скачке 143 K</a:t>
            </a:r>
            <a:endParaRPr lang="en-US" sz="1200" dirty="0"/>
          </a:p>
        </p:txBody>
      </p:sp>
      <p:pic>
        <p:nvPicPr>
          <p:cNvPr id="11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4198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491472" y="3346704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Vanilla: ровный «шум» по всей области</a:t>
            </a:r>
            <a:endParaRPr lang="en-US" sz="1200" dirty="0"/>
          </a:p>
        </p:txBody>
      </p:sp>
      <p:pic>
        <p:nvPicPr>
          <p:cNvPr id="13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60857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491472" y="4535424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PINN: рост ошибки E при T &lt; 10³ K — монотонная модель сглаживает скачок E вниз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ОГРАНИЧЕНИЯ РЕШЕНИЯ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3 · ДОПОЛНИТЕЛЬНЫЕ ПРОВЕРКИ И ОТКРЫТЫЕ ВОПРОСЫ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𝒢 &lt;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|∂lnP/∂lnT|, T &lt; 1 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Таблицы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2.2 %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Vanilla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13.2 %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PINN-A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15.9 %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PINN-T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14.0 %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66"/>
                          </a:solidFill>
                        </a:rPr>
                        <a:t>0.027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𝒢 = 1 + (ρ/c_s)(∂c_s/∂ρ)_S &gt; 0 — выпуклость изоэнтроп (корректные ударные волны). Третье начало: ∂P/∂T → 0 при T → 0.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35040" y="1417320"/>
            <a:ext cx="5577840" cy="480060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600200"/>
            <a:ext cx="265176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ЧЕСТНО О ПРЕДЕЛАХ</a:t>
            </a:r>
            <a:endParaRPr lang="en-US" sz="1100" dirty="0"/>
          </a:p>
        </p:txBody>
      </p:sp>
      <p:pic>
        <p:nvPicPr>
          <p:cNvPr id="9" name="Image 0" descr="/home/claude/deck2/ic_warn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311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56832" y="2157984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𝒢 &lt; 0 у сетей в 14–16 % точек — открытая проблема; штраф реализован, но поднимает ошибку до 20–33 %</a:t>
            </a:r>
            <a:endParaRPr lang="en-US" sz="1250" dirty="0"/>
          </a:p>
        </p:txBody>
      </p:sp>
      <p:pic>
        <p:nvPicPr>
          <p:cNvPr id="11" name="Image 1" descr="/home/claude/deck2/ic_warn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18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56832" y="3145536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Скачок при 143 K — артефакт таблиц (Al плавится при 933 K, C_v &lt; 0); PINN его сглаживает</a:t>
            </a:r>
            <a:endParaRPr lang="en-US" sz="1250" dirty="0"/>
          </a:p>
        </p:txBody>
      </p:sp>
      <p:pic>
        <p:nvPicPr>
          <p:cNvPr id="13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20624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56832" y="41330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Вне области обучения — экстраполяция: флаг out_of_domain, режим ood="nan"</a:t>
            </a:r>
            <a:endParaRPr lang="en-US" sz="1250" dirty="0"/>
          </a:p>
        </p:txBody>
      </p:sp>
      <p:pic>
        <p:nvPicPr>
          <p:cNvPr id="15" name="Image 3" descr="/home/claude/deck2/ic_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51937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656832" y="5120640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Сеть через свободную энергию F(ρ,T) дала бы Максвелла точно — следующий шаг (через Ψ = F/T)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ИНФЕРЕНС И УПАКОВКА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4 · КЛАСС-ОБЁРТКА И ЭКСПОРТ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2834640"/>
          </a:xfrm>
          <a:prstGeom prst="roundRect">
            <a:avLst>
              <a:gd name="adj" fmla="val 322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B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eos.wrapper import EOSModel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eos = EOSModel("pinn_thermo.onnx", ood="nan")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E  = eos.predict(rho, T)    # ГПа, кДж/г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    = eos.sound_speed(rho, T)  # км/с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 = eos.check_physics(rho, 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  = eos.derivatives(rho, T)</a:t>
            </a:r>
            <a:endParaRPr lang="en-US" sz="1300" dirty="0"/>
          </a:p>
        </p:txBody>
      </p:sp>
      <p:pic>
        <p:nvPicPr>
          <p:cNvPr id="6" name="Image 0" descr="/home/claude/deck2/ic_chec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542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4581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ValueError при ρ, T ≤ 0 или NaN; вне области — флаг out_of_domain</a:t>
            </a:r>
            <a:endParaRPr lang="en-US" sz="1300" dirty="0"/>
          </a:p>
        </p:txBody>
      </p:sp>
      <p:pic>
        <p:nvPicPr>
          <p:cNvPr id="8" name="Image 1" descr="/home/claude/deck2/ic_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029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7552" y="51297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ONNX работает без PyTorch; ONNX = PyTorch по P до float32</a:t>
            </a:r>
            <a:endParaRPr lang="en-US" sz="1300" dirty="0"/>
          </a:p>
        </p:txBody>
      </p:sp>
      <p:pic>
        <p:nvPicPr>
          <p:cNvPr id="10" name="Image 2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75157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87552" y="56784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Производные и c_s² считаются внутри экспортированного графа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949440" y="1417320"/>
            <a:ext cx="4663440" cy="480060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178040" y="1600200"/>
            <a:ext cx="265176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31520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АРТЕФАКТЫ ≤ 10 МБ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223760" y="21945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6" name="Image 3" descr="/home/claude/deck2/ic_box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582" y="2367382"/>
            <a:ext cx="294437" cy="2944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4672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pinn_thermo.onnx / pinn.onnx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046720" y="2523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P, E + производные + c_s² · 0.59 МБ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223760" y="3182112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0" name="Image 4" descr="/home/claude/deck2/ic_bo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582" y="3354934"/>
            <a:ext cx="294437" cy="2944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46720" y="31638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*_predict.onnx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8046720" y="3511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только P, E · 0.29 МБ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223760" y="4169664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4" name="Image 5" descr="/home/claude/deck2/ic_cod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582" y="4342486"/>
            <a:ext cx="294437" cy="2944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046720" y="41513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*.ts.pt, *_state_dict.pt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046720" y="4498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TorchScript, веса · 0.29–0.32 МБ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223760" y="5157216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28" name="Image 6" descr="/home/claude/deck2/ic_ruler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582" y="5330038"/>
            <a:ext cx="294437" cy="29443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046720" y="5138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normalization.json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8046720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коэффициенты нормирования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СЖАТИЕ И СКОРОСТЬ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МОДУЛЬ 5 · 10⁵ И 10⁸ ЗАПРОСОВ НА CPU (2 ЯДРА)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17320"/>
            <a:ext cx="4343400" cy="48463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25400" dir="5400000">
              <a:srgbClr val="9FB4D3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600200"/>
            <a:ext cx="2560320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ЧТО ДАЛО СЖАТИЕ</a:t>
            </a:r>
            <a:endParaRPr lang="en-US" sz="1100" dirty="0"/>
          </a:p>
        </p:txBody>
      </p:sp>
      <p:pic>
        <p:nvPicPr>
          <p:cNvPr id="8" name="Image 0" descr="/home/claude/deck2/ic_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2311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91272" y="21579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TorchScript ×2.6, ONNX ×3.5 без потери точности</a:t>
            </a:r>
            <a:endParaRPr lang="en-US" sz="1200" dirty="0"/>
          </a:p>
        </p:txBody>
      </p:sp>
      <p:pic>
        <p:nvPicPr>
          <p:cNvPr id="10" name="Image 1" descr="/home/claude/deck2/ic_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03580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91272" y="29626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Компактная PINN 64×4: 0.06 МБ, ×4.6 быстрее по производным, 1.0 % / 1.4 %</a:t>
            </a:r>
            <a:endParaRPr lang="en-US" sz="1200" dirty="0"/>
          </a:p>
        </p:txBody>
      </p:sp>
      <p:pic>
        <p:nvPicPr>
          <p:cNvPr id="12" name="Image 2" descr="/home/claude/deck2/ic_war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84048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891272" y="376732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fp16: файл ×0.5, но нарушения 0.017 → 0.55 % — физику после сжатия надо перепроверять</a:t>
            </a:r>
            <a:endParaRPr lang="en-US" sz="1200" dirty="0"/>
          </a:p>
        </p:txBody>
      </p:sp>
      <p:pic>
        <p:nvPicPr>
          <p:cNvPr id="14" name="Image 3" descr="/home/claude/deck2/ic_warn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645152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891272" y="457200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int8: ошибка 11 % — не подходит</a:t>
            </a:r>
            <a:endParaRPr lang="en-US" sz="1200" dirty="0"/>
          </a:p>
        </p:txBody>
      </p:sp>
      <p:pic>
        <p:nvPicPr>
          <p:cNvPr id="16" name="Image 4" descr="/home/claude/deck2/ic_check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544982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891272" y="537667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10⁸ запросов: PINN 184 с, компактная 65 с, таблица 45 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ИТОГИ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5" name="Image 0" descr="/home/claude/deck2/ic_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1874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СДЕЛАНО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EDA и проверка термодинамики таблиц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Бейзлайн, Vanilla, PINN-A, PINN-T, компактная PINN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ONNX / TorchScript, обёртка, тесты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Документация и README по модулям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77640" y="146304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164592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0" name="Image 1" descr="/home/claude/deck2/ic_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062" y="181874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РЕЗУЛЬТАТ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251460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Устойчивость: 28.4 % → 0.018 % нарушений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PINN-T: в 10 раз согласованнее таблиц по Максвеллу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PINN-A: ошибка 0.36 % / 0.59 %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Модель 0.29 МБ вместо 4.4 МБ таблиц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06640" y="146304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35240" y="164592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6E8BC9">
                <a:alpha val="40000"/>
              </a:srgbClr>
            </a:outerShdw>
          </a:effectLst>
        </p:spPr>
      </p:sp>
      <p:pic>
        <p:nvPicPr>
          <p:cNvPr id="15" name="Image 2" descr="/home/claude/deck2/ic_flas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062" y="181874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ДАЛЬШЕ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635240" y="251460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Согласовать P и E с авторами таблиц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Сеть через Ψ = F/T: Максвелл по построению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A"/>
                </a:solidFill>
              </a:rPr>
              <a:t>Штраф за 𝒢 &lt; 0, GPU-инференс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15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СПАСИБО ЗА ВНИМАНИЕ!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osatom Blue">
  <a:themeElements>
    <a:clrScheme name="Rosatom Blue">
      <a:dk1>
        <a:srgbClr val="3A4566"/>
      </a:dk1>
      <a:lt1>
        <a:srgbClr val="FFFFFF"/>
      </a:lt1>
      <a:dk2>
        <a:srgbClr val="16216B"/>
      </a:dk2>
      <a:lt2>
        <a:srgbClr val="EAF1FB"/>
      </a:lt2>
      <a:accent1>
        <a:srgbClr val="2449B8"/>
      </a:accent1>
      <a:accent2>
        <a:srgbClr val="3D7BEA"/>
      </a:accent2>
      <a:accent3>
        <a:srgbClr val="8DB8F2"/>
      </a:accent3>
      <a:accent4>
        <a:srgbClr val="F08A24"/>
      </a:accent4>
      <a:accent5>
        <a:srgbClr val="C9DAF3"/>
      </a:accent5>
      <a:accent6>
        <a:srgbClr val="0B165A"/>
      </a:accent6>
      <a:hlink>
        <a:srgbClr val="3D7BEA"/>
      </a:hlink>
      <a:folHlink>
        <a:srgbClr val="2449B8"/>
      </a:folHlink>
    </a:clrScheme>
    <a:fontScheme name="Rosatom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PINN-аппроксимация УРС алюминия</dc:title>
  <dc:subject>PptxGenJS Presentation</dc:subject>
  <dc:creator>Команда кейса 02</dc:creator>
  <cp:lastModifiedBy>Команда кейса 02</cp:lastModifiedBy>
  <cp:revision>1</cp:revision>
  <dcterms:created xsi:type="dcterms:W3CDTF">2026-10-28T13:44:40Z</dcterms:created>
  <dcterms:modified xsi:type="dcterms:W3CDTF">2026-10-28T13:44:40Z</dcterms:modified>
</cp:coreProperties>
</file>